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2"/>
  </p:notesMasterIdLst>
  <p:handoutMasterIdLst>
    <p:handoutMasterId r:id="rId13"/>
  </p:handoutMasterIdLst>
  <p:sldIdLst>
    <p:sldId id="258" r:id="rId5"/>
    <p:sldId id="259" r:id="rId6"/>
    <p:sldId id="263" r:id="rId7"/>
    <p:sldId id="260" r:id="rId8"/>
    <p:sldId id="261" r:id="rId9"/>
    <p:sldId id="26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9268E-69C6-B423-B729-553EDE5F73CA}" v="127" dt="2026-10-23T03:47:38.594"/>
    <p1510:client id="{F3B77CB0-B703-A2BC-97AD-2AAFD895D608}" v="241" dt="2026-10-23T04:22:56.1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10/23/2026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10/23/2026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10/23/2026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10/23/2026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10/23/2026</a:t>
            </a:fld>
            <a:endParaRPr lang="en-US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10/23/2026</a:t>
            </a:fld>
            <a:endParaRPr lang="en-US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10/23/2026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10/23/2026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10/23/2026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10/23/2026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yph000/CSE-111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 b="1" cap="none">
                <a:solidFill>
                  <a:schemeClr val="tx2"/>
                </a:solidFill>
                <a:latin typeface="Bahnschrift SemiLight"/>
                <a:cs typeface="Arial"/>
              </a:rPr>
              <a:t>UCM Course Catalog &amp; Registration Manager</a:t>
            </a:r>
            <a:endParaRPr lang="en-US" sz="8000" b="1">
              <a:solidFill>
                <a:schemeClr val="tx2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  <a:latin typeface="Bahnschrift SemiLight"/>
                <a:cs typeface="Arial"/>
              </a:rPr>
              <a:t>Alyssa Phouangpanya, Aman Kalkat</a:t>
            </a:r>
          </a:p>
          <a:p>
            <a:r>
              <a:rPr lang="en-US" sz="1000">
                <a:solidFill>
                  <a:schemeClr val="tx1"/>
                </a:solidFill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https://github.com/alyph000/CSE-111-Project</a:t>
            </a:r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2" name="Picture 1" descr="File:Uc merced logo.png - Wikimedia Commons">
            <a:extLst>
              <a:ext uri="{FF2B5EF4-FFF2-40B4-BE49-F238E27FC236}">
                <a16:creationId xmlns:a16="http://schemas.microsoft.com/office/drawing/2014/main" id="{BC8B74B9-7802-249E-2612-540761E4B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8565" y="1716295"/>
            <a:ext cx="2415642" cy="264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901F-E2ED-F845-E516-82119146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synopsis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2277F-BD51-62F7-3573-C4BB69E1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000"/>
              <a:t>A system that allows students and academic advisors to view and manage courses offered by UC Merced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000"/>
              <a:t>Users can search for courses and view relevant information such as course prerequisites, instructors, and available sections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2000"/>
              <a:t>Academic advisors can manage student enrollment for different course sections</a:t>
            </a:r>
          </a:p>
        </p:txBody>
      </p:sp>
    </p:spTree>
    <p:extLst>
      <p:ext uri="{BB962C8B-B14F-4D97-AF65-F5344CB8AC3E}">
        <p14:creationId xmlns:p14="http://schemas.microsoft.com/office/powerpoint/2010/main" val="383815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9069-D119-E03D-BAD8-4EB6A8F9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EF5CD-94D0-CDCA-60E9-E4F8E2ACE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/>
              <a:t>Can search courses</a:t>
            </a:r>
          </a:p>
          <a:p>
            <a:pPr marL="514350" lvl="1" indent="-285750">
              <a:buFont typeface="Courier New"/>
              <a:buChar char="o"/>
            </a:pPr>
            <a:r>
              <a:rPr lang="en-US" sz="2000"/>
              <a:t>Filter by department, location, meeting times, instructors</a:t>
            </a:r>
          </a:p>
          <a:p>
            <a:pPr marL="514350" lvl="1" indent="-285750">
              <a:buFont typeface="Courier New"/>
              <a:buChar char="o"/>
            </a:pPr>
            <a:r>
              <a:rPr lang="en-US" sz="2000"/>
              <a:t>View prerequisites for each course</a:t>
            </a:r>
          </a:p>
          <a:p>
            <a:pPr marL="514350" lvl="1" indent="-285750">
              <a:buFont typeface="Courier New"/>
              <a:buChar char="o"/>
            </a:pPr>
            <a:r>
              <a:rPr lang="en-US" sz="2000"/>
              <a:t>View linked sections (labs, discussions, exams)</a:t>
            </a:r>
          </a:p>
          <a:p>
            <a:pPr marL="285750" indent="-285750">
              <a:buFont typeface="Calibri"/>
              <a:buChar char="-"/>
            </a:pPr>
            <a:r>
              <a:rPr lang="en-US" sz="2000"/>
              <a:t>Can manage student </a:t>
            </a:r>
            <a:r>
              <a:rPr lang="en-US" sz="2000" err="1"/>
              <a:t>enrollm</a:t>
            </a:r>
            <a:r>
              <a:rPr lang="en-US" sz="2000"/>
              <a:t>ent</a:t>
            </a:r>
          </a:p>
          <a:p>
            <a:pPr marL="514350" lvl="1" indent="-285750">
              <a:buFont typeface="Courier New"/>
              <a:buChar char="o"/>
            </a:pPr>
            <a:r>
              <a:rPr lang="en-US" sz="2000"/>
              <a:t>Check capacity of course sections</a:t>
            </a:r>
          </a:p>
          <a:p>
            <a:pPr marL="514350" lvl="1" indent="-285750">
              <a:buFont typeface="Courier New"/>
              <a:buChar char="o"/>
            </a:pPr>
            <a:r>
              <a:rPr lang="en-US" sz="2000"/>
              <a:t>Enroll/unenroll students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514350" lvl="1" indent="-285750">
              <a:buFont typeface="Courier New"/>
              <a:buChar char="o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6807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2AA8-BE88-D579-575A-305DFEEC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57" y="593436"/>
            <a:ext cx="3141355" cy="1975806"/>
          </a:xfrm>
        </p:spPr>
        <p:txBody>
          <a:bodyPr/>
          <a:lstStyle/>
          <a:p>
            <a:r>
              <a:rPr lang="en-US"/>
              <a:t>Use case diagram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239CF6-4ADF-931E-3F91-0050FFD3C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55677" y="308750"/>
            <a:ext cx="8149914" cy="645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3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A93F-7805-4E7B-A584-58EED2C5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57" y="755073"/>
            <a:ext cx="3468345" cy="1911928"/>
          </a:xfrm>
        </p:spPr>
        <p:txBody>
          <a:bodyPr/>
          <a:lstStyle/>
          <a:p>
            <a:r>
              <a:rPr lang="en-US"/>
              <a:t>e/r diagram</a:t>
            </a:r>
            <a:br>
              <a:rPr lang="en-US"/>
            </a:b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4B965B-F164-0B21-5F71-8EB2C9F09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4013" y="206918"/>
            <a:ext cx="7743486" cy="664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7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82FA-FFCA-72B2-19EA-7110B11F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Relational schema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16027A-9567-1F4E-125B-D4280B1F7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24" y="1447209"/>
            <a:ext cx="9110653" cy="514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5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148D-8920-4D6B-B792-52E8A777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453" y="2668349"/>
            <a:ext cx="5488045" cy="762001"/>
          </a:xfrm>
        </p:spPr>
        <p:txBody>
          <a:bodyPr/>
          <a:lstStyle/>
          <a:p>
            <a:pPr algn="ctr"/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28692901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Blockwork elegance</vt:lpstr>
      <vt:lpstr>UCM Course Catalog &amp; Registration Manager</vt:lpstr>
      <vt:lpstr>synopsis</vt:lpstr>
      <vt:lpstr>USE Cases</vt:lpstr>
      <vt:lpstr>Use case diagram</vt:lpstr>
      <vt:lpstr>e/r diagram </vt:lpstr>
      <vt:lpstr>Relational schema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</cp:revision>
  <dcterms:created xsi:type="dcterms:W3CDTF">2026-10-19T07:17:19Z</dcterms:created>
  <dcterms:modified xsi:type="dcterms:W3CDTF">2026-10-23T07:37:59Z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